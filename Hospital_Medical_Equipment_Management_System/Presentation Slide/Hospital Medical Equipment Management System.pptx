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Outfit"/>
      <p:bold r:id="rId8"/>
    </p:embeddedFont>
    <p:embeddedFont>
      <p:font typeface="Syne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381625"/>
            <a:ext cx="10668000" cy="866775"/>
          </a:xfrm>
          <a:prstGeom prst="roundRect">
            <a:avLst>
              <a:gd name="adj" fmla="val 13186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962995" y="5634037"/>
            <a:ext cx="9525" cy="361950"/>
          </a:xfrm>
          <a:prstGeom prst="rect">
            <a:avLst/>
          </a:prstGeom>
          <a:solidFill>
            <a:srgbClr val="2E2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202090" y="5634037"/>
            <a:ext cx="9525" cy="361950"/>
          </a:xfrm>
          <a:prstGeom prst="rect">
            <a:avLst/>
          </a:prstGeom>
          <a:solidFill>
            <a:srgbClr val="2E2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4988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A580C"/>
                </a:solidFill>
                <a:latin typeface="Outfit"/>
              </a:rPr>
              <a:t>CSE 1115 • SPRING 2026 • ASSESSMENT CLO2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82125" y="614362"/>
            <a:ext cx="2559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1717A"/>
                </a:solidFill>
                <a:latin typeface="Outfit"/>
              </a:rPr>
              <a:t>Object-Oriented Software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84635"/>
            <a:ext cx="9901237" cy="1708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AFAFA"/>
                </a:solidFill>
                <a:latin typeface="Syne"/>
              </a:rPr>
              <a:t>Hospital Medical Equipment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983831"/>
            <a:ext cx="9763125" cy="3037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sz="1650" b="0" i="0" u="none">
                <a:solidFill>
                  <a:srgbClr val="A1A1AA"/>
                </a:solidFill>
                <a:latin typeface="Outfit"/>
              </a:rPr>
              <a:t>A polymorphic, safety-critical architecture for heterogeneous clinical devices.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5600700"/>
            <a:ext cx="31797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1717A"/>
                </a:solidFill>
                <a:latin typeface="Outfit"/>
              </a:rPr>
              <a:t>PRESENTER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5791200"/>
            <a:ext cx="31797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Outfit"/>
              </a:rPr>
              <a:t>Pranta Mohajan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420" y="5600700"/>
            <a:ext cx="31797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1717A"/>
                </a:solidFill>
                <a:latin typeface="Outfit"/>
              </a:rPr>
              <a:t>STUDENT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420" y="5791200"/>
            <a:ext cx="31797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EA580C"/>
                </a:solidFill>
                <a:latin typeface="Outfit"/>
              </a:rPr>
              <a:t>0222510005101025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4515" y="5600700"/>
            <a:ext cx="44514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1717A"/>
                </a:solidFill>
                <a:latin typeface="Outfit"/>
              </a:rPr>
              <a:t>INSTITUTION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4515" y="5791200"/>
            <a:ext cx="445144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Outfit"/>
              </a:rPr>
              <a:t>Premier University, Chittagong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29185"/>
            <a:ext cx="5554712" cy="1607343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E7D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4288928"/>
            <a:ext cx="2701230" cy="1277987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E7D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15630" y="4288928"/>
            <a:ext cx="2701230" cy="1277987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E7D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712" y="2238375"/>
            <a:ext cx="4732287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237" y="2247900"/>
            <a:ext cx="4713237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86379" y="495300"/>
            <a:ext cx="143887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1717A"/>
                </a:solidFill>
                <a:latin typeface="Outfit"/>
              </a:rPr>
              <a:t>01 / Challenge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1435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Outfit"/>
              </a:rPr>
              <a:t>PROBLEM 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23900"/>
            <a:ext cx="9890611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8181B"/>
                </a:solidFill>
                <a:latin typeface="Syne"/>
              </a:rPr>
              <a:t>The Core Software Engineering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75" y="2767310"/>
            <a:ext cx="5135612" cy="1131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sz="1650" b="1" i="0" u="none">
                <a:solidFill>
                  <a:srgbClr val="9A3412"/>
                </a:solidFill>
                <a:latin typeface="Outfit"/>
              </a:rPr>
              <a:t>How to manage highly diverse clinical devices through a uniform interface without risking codebase collapse during future hospital expansion?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469903"/>
            <a:ext cx="2876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8181B"/>
                </a:solidFill>
                <a:latin typeface="Outfit"/>
              </a:rPr>
              <a:t>Heterogeneous Vitals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746128"/>
            <a:ext cx="239643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52525B"/>
                </a:solidFill>
                <a:latin typeface="Outfit"/>
              </a:rPr>
              <a:t>Ventilators regulate airway pressure while ECG units process electrical telemetry.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5655" y="4469903"/>
            <a:ext cx="2876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8181B"/>
                </a:solidFill>
                <a:latin typeface="Outfit"/>
              </a:rPr>
              <a:t>Mandatory Audit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5655" y="4746128"/>
            <a:ext cx="239643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52525B"/>
                </a:solidFill>
                <a:latin typeface="Outfit"/>
              </a:rPr>
              <a:t>Strict regulatory compliance demands consistent, non-negotiable service audits.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61307"/>
            <a:ext cx="1066800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7D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532882"/>
            <a:ext cx="5219700" cy="1621035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9525">
            <a:solidFill>
              <a:srgbClr val="E7D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532882"/>
            <a:ext cx="5219700" cy="1621035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9525">
            <a:solidFill>
              <a:srgbClr val="E7D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43077" y="2637532"/>
            <a:ext cx="1409700" cy="209550"/>
          </a:xfrm>
          <a:prstGeom prst="roundRect">
            <a:avLst>
              <a:gd name="adj" fmla="val 18181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604194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7" y="2737544"/>
            <a:ext cx="2571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3794819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3794819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25075" y="495300"/>
            <a:ext cx="16311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1717A"/>
                </a:solidFill>
                <a:latin typeface="Outfit"/>
              </a:rPr>
              <a:t>02 / Structural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1435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Outfit"/>
              </a:rPr>
              <a:t>CORE STRUCTURAL 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2390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8181B"/>
                </a:solidFill>
                <a:latin typeface="Syne"/>
              </a:rPr>
              <a:t>System Architecture &amp; Contracts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6425" y="2885182"/>
            <a:ext cx="10315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525B"/>
                </a:solidFill>
                <a:latin typeface="Outfit"/>
              </a:rPr>
              <a:t>Encapsulates universal ID, equipment status, and maintenance dates while enforcing abstract start/stop operations.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4123432"/>
            <a:ext cx="476250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52525B"/>
                </a:solidFill>
                <a:latin typeface="Outfit"/>
              </a:rPr>
              <a:t>Ventilator, PatientMonitor, InfusionPump, ECGMachine, and Ultrasound encapsulate hardware-specific parameters.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734817"/>
            <a:ext cx="5834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A580C"/>
                </a:solidFill>
                <a:latin typeface="Outfit"/>
              </a:rPr>
              <a:t>Inherits base identity • Customizes vital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4123432"/>
            <a:ext cx="476250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52525B"/>
                </a:solidFill>
                <a:latin typeface="Outfit"/>
              </a:rPr>
              <a:t>Defines a standardized contract for inspection cycles, logging routines, and status audits across every device.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4734817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A580C"/>
                </a:solidFill>
                <a:latin typeface="Outfit"/>
              </a:rPr>
              <a:t>Zero coupling to device type • Universal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6425" y="2599432"/>
            <a:ext cx="28249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8181B"/>
                </a:solidFill>
                <a:latin typeface="Syne"/>
              </a:rPr>
              <a:t>MedicalEquipment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8327" y="2656582"/>
            <a:ext cx="1314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Outfit"/>
              </a:rPr>
              <a:t>Abstract Base 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2075" y="3771007"/>
            <a:ext cx="304549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Syne"/>
              </a:rPr>
              <a:t>5 Concrete Subclasses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5" y="3771007"/>
            <a:ext cx="304041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8181B"/>
                </a:solidFill>
                <a:latin typeface="Syne"/>
              </a:rPr>
              <a:t>Maintainable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08026"/>
            <a:ext cx="5238750" cy="1354335"/>
          </a:xfrm>
          <a:prstGeom prst="roundRect">
            <a:avLst>
              <a:gd name="adj" fmla="val 8439"/>
            </a:avLst>
          </a:prstGeom>
          <a:solidFill>
            <a:srgbClr val="FFFFFF"/>
          </a:solidFill>
          <a:ln w="9525">
            <a:solidFill>
              <a:srgbClr val="E7D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2308026"/>
            <a:ext cx="5238750" cy="1354335"/>
          </a:xfrm>
          <a:prstGeom prst="roundRect">
            <a:avLst>
              <a:gd name="adj" fmla="val 8439"/>
            </a:avLst>
          </a:prstGeom>
          <a:solidFill>
            <a:srgbClr val="FFFFFF"/>
          </a:solidFill>
          <a:ln w="9525">
            <a:solidFill>
              <a:srgbClr val="E7D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852862"/>
            <a:ext cx="5238750" cy="1354335"/>
          </a:xfrm>
          <a:prstGeom prst="roundRect">
            <a:avLst>
              <a:gd name="adj" fmla="val 8439"/>
            </a:avLst>
          </a:prstGeom>
          <a:solidFill>
            <a:srgbClr val="FFFFFF"/>
          </a:solidFill>
          <a:ln w="9525">
            <a:solidFill>
              <a:srgbClr val="E7D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852862"/>
            <a:ext cx="5238750" cy="1354335"/>
          </a:xfrm>
          <a:prstGeom prst="roundRect">
            <a:avLst>
              <a:gd name="adj" fmla="val 8439"/>
            </a:avLst>
          </a:prstGeom>
          <a:solidFill>
            <a:srgbClr val="FFFFFF"/>
          </a:solidFill>
          <a:ln w="9525">
            <a:solidFill>
              <a:srgbClr val="E7D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38775" y="2584251"/>
            <a:ext cx="285750" cy="209550"/>
          </a:xfrm>
          <a:prstGeom prst="roundRect">
            <a:avLst>
              <a:gd name="adj" fmla="val 18181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839450" y="2584251"/>
            <a:ext cx="314325" cy="209550"/>
          </a:xfrm>
          <a:prstGeom prst="roundRect">
            <a:avLst>
              <a:gd name="adj" fmla="val 18181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10200" y="4129087"/>
            <a:ext cx="314325" cy="209550"/>
          </a:xfrm>
          <a:prstGeom prst="roundRect">
            <a:avLst>
              <a:gd name="adj" fmla="val 18181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829925" y="4129087"/>
            <a:ext cx="323850" cy="209550"/>
          </a:xfrm>
          <a:prstGeom prst="roundRect">
            <a:avLst>
              <a:gd name="adj" fmla="val 18181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77450" y="495300"/>
            <a:ext cx="1690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1717A"/>
                </a:solidFill>
                <a:latin typeface="Outfit"/>
              </a:rPr>
              <a:t>03 / Core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14350"/>
            <a:ext cx="1053665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Outfit"/>
              </a:rPr>
              <a:t>THEORY APPLIED TO HEALTHCARE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23900"/>
            <a:ext cx="11063492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8181B"/>
                </a:solidFill>
                <a:latin typeface="Syne"/>
              </a:rPr>
              <a:t>Four Foundational OOP Pillars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2908101"/>
            <a:ext cx="478155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52525B"/>
                </a:solidFill>
                <a:latin typeface="Outfit"/>
              </a:rPr>
              <a:t>Hides physical hardware circuits behind clean, high-level operational contracts.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2908101"/>
            <a:ext cx="478155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52525B"/>
                </a:solidFill>
                <a:latin typeface="Outfit"/>
              </a:rPr>
              <a:t>Guards device calibration data with private fields and validated state mutators.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452937"/>
            <a:ext cx="478155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52525B"/>
                </a:solidFill>
                <a:latin typeface="Outfit"/>
              </a:rPr>
              <a:t>Reuses base identifiers and attaches specialized clinical monitoring attributes.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4452937"/>
            <a:ext cx="478155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52525B"/>
                </a:solidFill>
                <a:latin typeface="Outfit"/>
              </a:rPr>
              <a:t>Dispatches device routines dynamically through a shared base reference.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2565201"/>
            <a:ext cx="170236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8181B"/>
                </a:solidFill>
                <a:latin typeface="Syne"/>
              </a:rPr>
              <a:t>Abstraction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4975" y="2603301"/>
            <a:ext cx="228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Outfit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2565201"/>
            <a:ext cx="210377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8181B"/>
                </a:solidFill>
                <a:latin typeface="Syne"/>
              </a:rPr>
              <a:t>Encapsulation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5650" y="2603301"/>
            <a:ext cx="2571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Outfit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5" y="4110037"/>
            <a:ext cx="166485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8181B"/>
                </a:solidFill>
                <a:latin typeface="Syne"/>
              </a:rPr>
              <a:t>Inheritance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148137"/>
            <a:ext cx="2571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Outfit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4110037"/>
            <a:ext cx="212194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8181B"/>
                </a:solidFill>
                <a:latin typeface="Syne"/>
              </a:rPr>
              <a:t>Polymorphism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6125" y="4148137"/>
            <a:ext cx="266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Outfi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91990"/>
            <a:ext cx="5180409" cy="2759868"/>
          </a:xfrm>
          <a:prstGeom prst="roundRect">
            <a:avLst>
              <a:gd name="adj" fmla="val 4141"/>
            </a:avLst>
          </a:prstGeom>
          <a:solidFill>
            <a:srgbClr val="FFFFFF"/>
          </a:solidFill>
          <a:ln w="9525">
            <a:solidFill>
              <a:srgbClr val="E7D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7209" y="2370832"/>
            <a:ext cx="5182790" cy="3202185"/>
          </a:xfrm>
          <a:prstGeom prst="roundRect">
            <a:avLst>
              <a:gd name="adj" fmla="val 3569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99634" y="4515742"/>
            <a:ext cx="4477940" cy="704850"/>
          </a:xfrm>
          <a:prstGeom prst="roundRect">
            <a:avLst>
              <a:gd name="adj" fmla="val 1081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99634" y="2770882"/>
            <a:ext cx="76200" cy="7620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99634" y="4515742"/>
            <a:ext cx="38100" cy="7048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82994" y="495300"/>
            <a:ext cx="114225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1717A"/>
                </a:solidFill>
                <a:latin typeface="Outfit"/>
              </a:rPr>
              <a:t>04 / Extensibility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1435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Outfit"/>
              </a:rPr>
              <a:t>DESIGN DECISIONS &amp; VIVA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23900"/>
            <a:ext cx="10202056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8181B"/>
                </a:solidFill>
                <a:latin typeface="Syne"/>
              </a:rPr>
              <a:t>UML Associations &amp; Future Scalability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2906315"/>
            <a:ext cx="597418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18181B"/>
                </a:solidFill>
                <a:latin typeface="Syne"/>
              </a:rPr>
              <a:t>Key UML Structural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9634" y="3009007"/>
            <a:ext cx="48018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FFFFFF"/>
                </a:solidFill>
                <a:latin typeface="Syne"/>
              </a:rPr>
              <a:t>Zero-Downtime Extensibility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9634" y="3828157"/>
            <a:ext cx="457319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A1A1AA"/>
                </a:solidFill>
                <a:latin typeface="Outfit"/>
              </a:rPr>
              <a:t>Adding an MRI machine or Defibrillator requires only a new subclass extending MedicalEquipment.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353990"/>
            <a:ext cx="568969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A580C"/>
                </a:solidFill>
                <a:latin typeface="Outfit"/>
              </a:rPr>
              <a:t>Composition (◆) — MaintenanceRecord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620690"/>
            <a:ext cx="464700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52525B"/>
                </a:solidFill>
                <a:latin typeface="Outfit"/>
              </a:rPr>
              <a:t>Strict lifecycle dependency: deleting an equipment instance destroys its corresponding service logs.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4291012"/>
            <a:ext cx="568969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A580C"/>
                </a:solidFill>
                <a:latin typeface="Outfit"/>
              </a:rPr>
              <a:t>Aggregation (◇) — Hospital &amp; Equipment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557712"/>
            <a:ext cx="464700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52525B"/>
                </a:solidFill>
                <a:latin typeface="Outfit"/>
              </a:rPr>
              <a:t>Loose coupling: hospital holds equipment references, but physical hardware exists independently.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1084" y="2723257"/>
            <a:ext cx="32234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Outfit"/>
              </a:rPr>
              <a:t>OPEN / CLOSED PRINCIPLE (OCP)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8234" y="4668142"/>
            <a:ext cx="415409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4F4F5"/>
                </a:solidFill>
                <a:latin typeface="Outfit"/>
              </a:rPr>
              <a:t>Hospital inventory loop &amp; maintenance scheduler require zero code modifications.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86237" y="4552354"/>
            <a:ext cx="3819525" cy="523875"/>
          </a:xfrm>
          <a:prstGeom prst="roundRect">
            <a:avLst>
              <a:gd name="adj" fmla="val 50000"/>
            </a:avLst>
          </a:prstGeom>
          <a:solidFill>
            <a:srgbClr val="1C1A17"/>
          </a:solidFill>
          <a:ln w="952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02968" y="1343620"/>
            <a:ext cx="2786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EA580C"/>
                </a:solidFill>
                <a:latin typeface="Outfit"/>
              </a:rPr>
              <a:t>DEFENSE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31" y="1696045"/>
            <a:ext cx="11691937" cy="1685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25"/>
              </a:lnSpc>
            </a:pPr>
            <a:r>
              <a:rPr sz="3750" b="1" i="0" u="none">
                <a:solidFill>
                  <a:srgbClr val="FAFAFA"/>
                </a:solidFill>
                <a:latin typeface="Syne"/>
              </a:rPr>
              <a:t>Scalable, Safe &amp; Extensible Healthcare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3610570"/>
            <a:ext cx="9048750" cy="579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83"/>
              </a:lnSpc>
            </a:pPr>
            <a:r>
              <a:rPr sz="1575" b="0" i="0" u="none">
                <a:solidFill>
                  <a:srgbClr val="A1A1AA"/>
                </a:solidFill>
                <a:latin typeface="Outfit"/>
              </a:rPr>
              <a:t>Connecting theoretical OOP constructs to real-world clinical equipment safety standards.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9843" y="5323879"/>
            <a:ext cx="7072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71717A"/>
                </a:solidFill>
                <a:latin typeface="Outfit"/>
              </a:rPr>
              <a:t>Department of Computer Science and Engineering • Premier University, Chittagong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6953" y="4695229"/>
            <a:ext cx="379809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AFAFA"/>
                </a:solidFill>
                <a:latin typeface="Outfit"/>
              </a:rPr>
              <a:t>Thank You •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373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Outfit</vt:lpstr>
      <vt:lpstr>Arial</vt:lpstr>
      <vt:lpstr>Syne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Pranta Mohajan</cp:lastModifiedBy>
  <cp:revision>2</cp:revision>
  <dcterms:created xsi:type="dcterms:W3CDTF">2013-01-27T09:14:16Z</dcterms:created>
  <dcterms:modified xsi:type="dcterms:W3CDTF">2026-09-22T15:44:00Z</dcterms:modified>
  <cp:category/>
</cp:coreProperties>
</file>